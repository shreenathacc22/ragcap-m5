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558f68c-706e-f423-5a25-3dd5af4d4287}">
          <p14:sldIdLst>
            <p14:sldId id="256"/>
            <p14:sldId id="257"/>
          </p14:sldIdLst>
        </p14:section>
        <p14:section name="How it works" id="{25a1a753-8f31-a572-3bb4-ab0e3a5ee68a}">
          <p14:sldIdLst>
            <p14:sldId id="258"/>
            <p14:sldId id="259"/>
          </p14:sldIdLst>
        </p14:section>
        <p14:section name="How it is built" id="{c34620f7-57fa-4ca5-531b-0106f82f67ca}">
          <p14:sldIdLst>
            <p14:sldId id="260"/>
            <p14:sldId id="261"/>
          </p14:sldIdLst>
        </p14:section>
        <p14:section name="Results" id="{81a14aa3-8277-0ec1-a642-46c167a78b47}">
          <p14:sldIdLst>
            <p14:sldId id="262"/>
            <p14:sldId id="263"/>
            <p14:sldId id="264"/>
          </p14:sldIdLst>
        </p14:section>
        <p14:section name="Showcase" id="{12fa59e3-ca20-e096-f83f-8bd2ef48b0ec}">
          <p14:sldIdLst>
            <p14:sldId id="265"/>
            <p14:sldId id="266"/>
            <p14:sldId id="267"/>
          </p14:sldIdLst>
        </p14:section>
        <p14:section name="Deploy" id="{4105f9a4-6c58-e35f-5612-a568df3c5eef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F6B76"/>
                </a:solidFill>
                <a:latin typeface="+mn-lt"/>
              </a:rPr>
              <a:t>Percent, 3 runs each (llama3.2:3b)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Tuned set (27)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Router accuracy</c:v>
                  </c:pt>
                  <c:pt idx="1">
                    <c:v>Answers correct</c:v>
                  </c:pt>
                  <c:pt idx="2">
                    <c:v>Retrieval hit rate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92.6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 set (25)</c:v>
                </c:pt>
              </c:strCache>
            </c:strRef>
          </c:tx>
          <c:spPr>
            <a:solidFill>
              <a:srgbClr val="2457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Router accuracy</c:v>
                  </c:pt>
                  <c:pt idx="1">
                    <c:v>Answers correct</c:v>
                  </c:pt>
                  <c:pt idx="2">
                    <c:v>Retrieval hit rate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Unseen, + qwen3:8b grader</c:v>
                </c:pt>
              </c:strCache>
            </c:strRef>
          </c:tx>
          <c:spPr>
            <a:solidFill>
              <a:srgbClr val="1E7F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Router accuracy</c:v>
                  </c:pt>
                  <c:pt idx="1">
                    <c:v>Answers correct</c:v>
                  </c:pt>
                  <c:pt idx="2">
                    <c:v>Retrieval hit rate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96</c:v>
                </c:pt>
                <c:pt idx="2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F6B76"/>
                </a:solidFill>
                <a:latin typeface="+mn-lt"/>
              </a:rPr>
              <a:t>99/192 → 0/192 chunks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Filter OFF</c:v>
                </c:pt>
              </c:strCache>
            </c:strRef>
          </c:tx>
          <c:spPr>
            <a:solidFill>
              <a:srgbClr val="B541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Superseded chunks retrieved (%)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Filter ON</c:v>
                </c:pt>
              </c:strCache>
            </c:strRef>
          </c:tx>
          <c:spPr>
            <a:solidFill>
              <a:srgbClr val="1E7F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Superseded chunks retrieved (%)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summary, then the two links. Everything on these slides is reproducible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column is what the PDF described; the right is what this project added. The key gap in the original was that nothing measured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paths. Point out that the version filter is a WHERE clause in code, before the vector ranking, not a prompt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hosted service anywhere. That is what made the honest measurement cheap to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stages are the sections of the SOP; each one can be done and checked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rules are what make the next two slides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and retrieval generalise to unseen questions; four of the five unseen failures are the small grader, which the second-opinion grader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is the left chart. The right table shows the control cases did not move and the cost is at most one millisecond.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written up with its evidence in the SOP; none is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real runs on the M5 Pro; the latencies in the pills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the colleague's proposed direction. The scaffold and the measurement method transfer; model size is not the next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site is static: the replay is recorded. recreate.sh exits 1 if any fingerprint differs from the recorded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minutes in the Vercel dashboard. The CLI path needs an interactive login, which is why it was not done from the build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recreate.sh checks every row of this table and stops on the first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 links. Offer the method before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ragcap  ·  github.com/shreenathacc22/ragcap-m5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reenathacc22/ragcap-m5" TargetMode="External"/><Relationship Id="rId2" Type="http://schemas.openxmlformats.org/officeDocument/2006/relationships/hyperlink" Target="https://shreenathacc22.github.io/ragcap-m5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hreenathacc22.github.io/ragcap-m5/" TargetMode="External"/><Relationship Id="rId3" Type="http://schemas.openxmlformats.org/officeDocument/2006/relationships/hyperlink" Target="https://shreenathacc22.github.io/ragcap-m5/docs/SOP_ragcap_build.pdf" TargetMode="External"/><Relationship Id="rId4" Type="http://schemas.openxmlformats.org/officeDocument/2006/relationships/hyperlink" Target="https://shreenathacc22.github.io/ragcap-m5/docs/RUNBOOK_ragcap_operations.pdf" TargetMode="External"/><Relationship Id="rId5" Type="http://schemas.openxmlformats.org/officeDocument/2006/relationships/hyperlink" Target="https://shreenathacc22.github.io/ragcap-m5/docs/RECREATE_ragcap.pdf" TargetMode="External"/><Relationship Id="rId6" Type="http://schemas.openxmlformats.org/officeDocument/2006/relationships/hyperlink" Target="https://shreenathacc22.github.io/ragcap-m5/docs/INSTALL_ragcap.pdf" TargetMode="External"/><Relationship Id="rId1" Type="http://schemas.openxmlformats.org/officeDocument/2006/relationships/image" Target="../media/image-12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reenathacc22/ragcap-m5" TargetMode="External"/><Relationship Id="rId2" Type="http://schemas.openxmlformats.org/officeDocument/2006/relationships/hyperlink" Target="https://shreenathacc22.github.io/ragcap-m5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ragcap: a multi-agent RAG system, built and measured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colleague's capstone design (LangGraph router, document RAG with grade and rewrite, SQL agent, general agent, Postgres + pgvector) reproduced on local models, then evaluated the way it should be: frozen test sets, repeated runs, and a version-aware filter with an OFF/ON proof.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Apple M5 Pro · local models · no API key · no admin rights · October 2026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https://github.com/shreenathacc22/ragcap-m5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 ·    </a:t>
            </a:r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https://shreenathacc22.github.io/ragcap-m5/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design to reproduce, and what was added</a:t>
            </a:r>
            <a:endParaRPr lang="en-US" sz="2800" dirty="0"/>
          </a:p>
        </p:txBody>
      </p:sp>
      <p:sp>
        <p:nvSpPr>
          <p:cNvPr id="3" name="card The design (from the capstone PDF)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The design (from the capstone PDF)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Router → documents / database / general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Retrieve top-6 → Grade → one Rewrite → Generate with citations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SQL agent: one SELECT, read-only, time-limited, one retry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General agent never states facts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Postgres + pgvector, LangGraph, FastAPI, streaming chat, 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Reported: latency and cost per flow (110 answers)</a:t>
            </a:r>
            <a:endParaRPr lang="en-US" sz="1200" dirty="0"/>
          </a:p>
        </p:txBody>
      </p:sp>
      <p:sp>
        <p:nvSpPr>
          <p:cNvPr id="7" name="card Added here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Added here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quality column: frozen golden set (27), unseen set (25), router / retrieval / answer accuracy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Repeated runs: means and ranges, failing ids listed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Version-aware retrieval: superseded versions excluded before ranking, proven OFF vs 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Model choice measured: a second-opinion grader lifts unseen answers 80% → 96%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P&amp;ID branch on synthetic drawings with a 3B vision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Four documents (SOP, runbook, recreate, install); rebuild and clean-start checks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graph: one router, three paths, one trace</a:t>
            </a:r>
            <a:endParaRPr lang="en-US" sz="2800" dirty="0"/>
          </a:p>
        </p:txBody>
      </p:sp>
      <p:sp>
        <p:nvSpPr>
          <p:cNvPr id="3" name="card question"/>
          <p:cNvSpPr/>
          <p:nvPr/>
        </p:nvSpPr>
        <p:spPr>
          <a:xfrm>
            <a:off x="457200" y="23317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question</a:t>
            </a:r>
            <a:endParaRPr lang="en-US" sz="1200" dirty="0"/>
          </a:p>
        </p:txBody>
      </p:sp>
      <p:sp>
        <p:nvSpPr>
          <p:cNvPr id="5" name="card router"/>
          <p:cNvSpPr/>
          <p:nvPr/>
        </p:nvSpPr>
        <p:spPr>
          <a:xfrm>
            <a:off x="1737360" y="23317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router</a:t>
            </a:r>
            <a:endParaRPr lang="en-US" sz="1300" dirty="0"/>
          </a:p>
        </p:txBody>
      </p:sp>
      <p:sp>
        <p:nvSpPr>
          <p:cNvPr id="7" name="card retrieve"/>
          <p:cNvSpPr/>
          <p:nvPr/>
        </p:nvSpPr>
        <p:spPr>
          <a:xfrm>
            <a:off x="3291840" y="12344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retrieve</a:t>
            </a:r>
            <a:endParaRPr lang="en-US" sz="1200" dirty="0"/>
          </a:p>
        </p:txBody>
      </p:sp>
      <p:sp>
        <p:nvSpPr>
          <p:cNvPr id="9" name="card grade"/>
          <p:cNvSpPr/>
          <p:nvPr/>
        </p:nvSpPr>
        <p:spPr>
          <a:xfrm>
            <a:off x="4663440" y="12344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grade</a:t>
            </a:r>
            <a:endParaRPr lang="en-US" sz="1200" dirty="0"/>
          </a:p>
        </p:txBody>
      </p:sp>
      <p:sp>
        <p:nvSpPr>
          <p:cNvPr id="11" name="card generate"/>
          <p:cNvSpPr/>
          <p:nvPr/>
        </p:nvSpPr>
        <p:spPr>
          <a:xfrm>
            <a:off x="6035040" y="12344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</a:t>
            </a:r>
            <a:endParaRPr lang="en-US" sz="1200" dirty="0"/>
          </a:p>
        </p:txBody>
      </p:sp>
      <p:sp>
        <p:nvSpPr>
          <p:cNvPr id="13" name="rewrite box"/>
          <p:cNvSpPr/>
          <p:nvPr/>
        </p:nvSpPr>
        <p:spPr>
          <a:xfrm>
            <a:off x="4663440" y="19659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5F6B7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66344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rewrite ×1</a:t>
            </a:r>
            <a:endParaRPr lang="en-US" sz="1100" dirty="0"/>
          </a:p>
        </p:txBody>
      </p:sp>
      <p:sp>
        <p:nvSpPr>
          <p:cNvPr id="15" name="card sql_agent"/>
          <p:cNvSpPr/>
          <p:nvPr/>
        </p:nvSpPr>
        <p:spPr>
          <a:xfrm>
            <a:off x="3291840" y="265176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651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sql_agent</a:t>
            </a:r>
            <a:endParaRPr lang="en-US" sz="1200" dirty="0"/>
          </a:p>
        </p:txBody>
      </p:sp>
      <p:sp>
        <p:nvSpPr>
          <p:cNvPr id="17" name="card generate_sql"/>
          <p:cNvSpPr/>
          <p:nvPr/>
        </p:nvSpPr>
        <p:spPr>
          <a:xfrm>
            <a:off x="4754880" y="26517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generate_sql</a:t>
            </a:r>
            <a:endParaRPr lang="en-US" sz="1200" dirty="0"/>
          </a:p>
        </p:txBody>
      </p:sp>
      <p:sp>
        <p:nvSpPr>
          <p:cNvPr id="19" name="card general"/>
          <p:cNvSpPr/>
          <p:nvPr/>
        </p:nvSpPr>
        <p:spPr>
          <a:xfrm>
            <a:off x="3291840" y="3566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general</a:t>
            </a:r>
            <a:endParaRPr lang="en-US" sz="1200" dirty="0"/>
          </a:p>
        </p:txBody>
      </p:sp>
      <p:sp>
        <p:nvSpPr>
          <p:cNvPr id="21" name="card answer"/>
          <p:cNvSpPr/>
          <p:nvPr/>
        </p:nvSpPr>
        <p:spPr>
          <a:xfrm>
            <a:off x="7589520" y="23317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answer</a:t>
            </a:r>
            <a:endParaRPr lang="en-US" sz="1200" dirty="0"/>
          </a:p>
        </p:txBody>
      </p:sp>
      <p:sp>
        <p:nvSpPr>
          <p:cNvPr id="23" name="arrow"/>
          <p:cNvSpPr/>
          <p:nvPr/>
        </p:nvSpPr>
        <p:spPr>
          <a:xfrm>
            <a:off x="1463040" y="260604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 flipV="1">
            <a:off x="2834640" y="1508760"/>
            <a:ext cx="457200" cy="9601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>
            <a:off x="4389120" y="150876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>
            <a:off x="5760720" y="150876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7" name="arrow"/>
          <p:cNvSpPr/>
          <p:nvPr/>
        </p:nvSpPr>
        <p:spPr>
          <a:xfrm>
            <a:off x="5212080" y="1783080"/>
            <a:ext cx="9144" cy="18288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 flipH="1" flipV="1">
            <a:off x="3840480" y="1783080"/>
            <a:ext cx="822960" cy="384048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2834640" y="2651760"/>
            <a:ext cx="457200" cy="2743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4480560" y="292608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>
            <a:off x="2834640" y="2743200"/>
            <a:ext cx="457200" cy="109728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7132320" y="1508760"/>
            <a:ext cx="457200" cy="9601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 flipV="1">
            <a:off x="6126480" y="2651760"/>
            <a:ext cx="1463040" cy="2743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4" name="arrow"/>
          <p:cNvSpPr/>
          <p:nvPr/>
        </p:nvSpPr>
        <p:spPr>
          <a:xfrm flipV="1">
            <a:off x="4389120" y="2743200"/>
            <a:ext cx="3200400" cy="109728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291840" y="8961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documents: top-6 chunks from pgvector, WHERE superseded = false before ranking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29184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database: one read-only SELECT, 5 s timeout, one retry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4133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general: greetings only; forbidden from stating facts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Every node appends its milliseconds and tokens to the trace; the API streams one event per node.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stack, all local</a:t>
            </a:r>
            <a:endParaRPr lang="en-US" sz="2800" dirty="0"/>
          </a:p>
        </p:txBody>
      </p:sp>
      <p:sp>
        <p:nvSpPr>
          <p:cNvPr id="3" name="card Postgres 16 + pgvector"/>
          <p:cNvSpPr/>
          <p:nvPr/>
        </p:nvSpPr>
        <p:spPr>
          <a:xfrm>
            <a:off x="457200" y="10515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Postgres 16 + pgvector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Native via pgctl.sh, 127.0.0.1:5433. Tables documents (name, version, superseded, effective_date), chunks (vector(768), HNSW), uploaded_tables.</a:t>
            </a:r>
            <a:endParaRPr lang="en-US" sz="1200" dirty="0"/>
          </a:p>
        </p:txBody>
      </p:sp>
      <p:sp>
        <p:nvSpPr>
          <p:cNvPr id="6" name="card Ollama"/>
          <p:cNvSpPr/>
          <p:nvPr/>
        </p:nvSpPr>
        <p:spPr>
          <a:xfrm>
            <a:off x="4663440" y="10515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Ollama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llama3.2:3b for all LLM calls; qwen3:8b as optional grader; nomic-embed-text for embeddings; qwen2.5vl:3b for drawings.</a:t>
            </a:r>
            <a:endParaRPr lang="en-US" sz="1200" dirty="0"/>
          </a:p>
        </p:txBody>
      </p:sp>
      <p:sp>
        <p:nvSpPr>
          <p:cNvPr id="9" name="card LangGraph 1.2"/>
          <p:cNvSpPr/>
          <p:nvPr/>
        </p:nvSpPr>
        <p:spPr>
          <a:xfrm>
            <a:off x="457200" y="224028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LangGraph 1.2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StateGraph with conditional edges; nodes are plain functions with a timing decorator.</a:t>
            </a:r>
            <a:endParaRPr lang="en-US" sz="1200" dirty="0"/>
          </a:p>
        </p:txBody>
      </p:sp>
      <p:sp>
        <p:nvSpPr>
          <p:cNvPr id="12" name="card Ingestion"/>
          <p:cNvSpPr/>
          <p:nvPr/>
        </p:nvSpPr>
        <p:spPr>
          <a:xfrm>
            <a:off x="4663440" y="224028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Ingestion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43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Markdown and PDF to paragraph-packed chunks; front-matter becomes version metadata and is stripped before embedding; CSV/Excel become SQL tables.</a:t>
            </a:r>
            <a:endParaRPr lang="en-US" sz="1200" dirty="0"/>
          </a:p>
        </p:txBody>
      </p:sp>
      <p:sp>
        <p:nvSpPr>
          <p:cNvPr id="15" name="card FastAPI + web/"/>
          <p:cNvSpPr/>
          <p:nvPr/>
        </p:nvSpPr>
        <p:spPr>
          <a:xfrm>
            <a:off x="457200" y="342900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FastAPI + web/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/upload, /chat (server-sent events), /eval, /health; a static page renders the node stream. Gradio as a second UI.</a:t>
            </a:r>
            <a:endParaRPr lang="en-US" sz="1200" dirty="0"/>
          </a:p>
        </p:txBody>
      </p:sp>
      <p:sp>
        <p:nvSpPr>
          <p:cNvPr id="18" name="card Evaluation and operations"/>
          <p:cNvSpPr/>
          <p:nvPr/>
        </p:nvSpPr>
        <p:spPr>
          <a:xfrm>
            <a:off x="4663440" y="342900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Evaluation and operations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931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eval.py, b1_eval.py (filter OFF/ON), b1_check.py, scenarios.py, pid_eval.py, recreate.sh, services.sh check.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From pre-work to troubleshooting</a:t>
            </a:r>
            <a:endParaRPr lang="en-US" sz="2800" dirty="0"/>
          </a:p>
        </p:txBody>
      </p:sp>
      <p:sp>
        <p:nvSpPr>
          <p:cNvPr id="3" name="phase 1"/>
          <p:cNvSpPr/>
          <p:nvPr/>
        </p:nvSpPr>
        <p:spPr>
          <a:xfrm>
            <a:off x="86868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arrow"/>
          <p:cNvSpPr/>
          <p:nvPr/>
        </p:nvSpPr>
        <p:spPr>
          <a:xfrm>
            <a:off x="146304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Pre-work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requirements, design decisions, rules that keep results honest (SOP 3)</a:t>
            </a:r>
            <a:endParaRPr lang="en-US" sz="1050" dirty="0"/>
          </a:p>
        </p:txBody>
      </p:sp>
      <p:sp>
        <p:nvSpPr>
          <p:cNvPr id="8" name="phase 2"/>
          <p:cNvSpPr/>
          <p:nvPr/>
        </p:nvSpPr>
        <p:spPr>
          <a:xfrm>
            <a:off x="228600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288036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8745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Prepare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uv, Python 3.12, Ollama, two required models; no admin rights (SOP 4)</a:t>
            </a:r>
            <a:endParaRPr lang="en-US" sz="1050" dirty="0"/>
          </a:p>
        </p:txBody>
      </p:sp>
      <p:sp>
        <p:nvSpPr>
          <p:cNvPr id="13" name="phase 3"/>
          <p:cNvSpPr/>
          <p:nvPr/>
        </p:nvSpPr>
        <p:spPr>
          <a:xfrm>
            <a:off x="370332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arrow"/>
          <p:cNvSpPr/>
          <p:nvPr/>
        </p:nvSpPr>
        <p:spPr>
          <a:xfrm>
            <a:off x="429768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2918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Implement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native Postgres, schema, ingestion, graph, interfaces, P&amp;ID, Docling (SOP 5)</a:t>
            </a:r>
            <a:endParaRPr lang="en-US" sz="1050" dirty="0"/>
          </a:p>
        </p:txBody>
      </p:sp>
      <p:sp>
        <p:nvSpPr>
          <p:cNvPr id="18" name="phase 4"/>
          <p:cNvSpPr/>
          <p:nvPr/>
        </p:nvSpPr>
        <p:spPr>
          <a:xfrm>
            <a:off x="512064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arrow"/>
          <p:cNvSpPr/>
          <p:nvPr/>
        </p:nvSpPr>
        <p:spPr>
          <a:xfrm>
            <a:off x="571500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70916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clean start, fingerprints, filter OFF/ON, 18 scenarios, 3 runs per set (SOP 6)</a:t>
            </a:r>
            <a:endParaRPr lang="en-US" sz="1050" dirty="0"/>
          </a:p>
        </p:txBody>
      </p:sp>
      <p:sp>
        <p:nvSpPr>
          <p:cNvPr id="23" name="phase 5"/>
          <p:cNvSpPr/>
          <p:nvPr/>
        </p:nvSpPr>
        <p:spPr>
          <a:xfrm>
            <a:off x="653796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arrow"/>
          <p:cNvSpPr/>
          <p:nvPr/>
        </p:nvSpPr>
        <p:spPr>
          <a:xfrm>
            <a:off x="713232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12648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Operate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services.sh, backups, model profiles, change control (runbook)</a:t>
            </a:r>
            <a:endParaRPr lang="en-US" sz="1050" dirty="0"/>
          </a:p>
        </p:txBody>
      </p:sp>
      <p:sp>
        <p:nvSpPr>
          <p:cNvPr id="28" name="phase 6"/>
          <p:cNvSpPr/>
          <p:nvPr/>
        </p:nvSpPr>
        <p:spPr>
          <a:xfrm>
            <a:off x="795528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Troubleshoot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symptom, cause and fix for every problem met (SOP 8, runbook 5)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Every step in the SOP has its commands, the expected output and the result measured on the M5 Pro.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the numbers are kept honest</a:t>
            </a:r>
            <a:endParaRPr lang="en-US" sz="2800" dirty="0"/>
          </a:p>
        </p:txBody>
      </p:sp>
      <p:sp>
        <p:nvSpPr>
          <p:cNvPr id="3" name="rul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Freeze first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3560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golden set was committed before the pipeline existed; the unseen set before its first run. Git order is the evidence.</a:t>
            </a:r>
            <a:endParaRPr lang="en-US" sz="1100" dirty="0"/>
          </a:p>
        </p:txBody>
      </p:sp>
      <p:sp>
        <p:nvSpPr>
          <p:cNvPr id="7" name="rule 2"/>
          <p:cNvSpPr/>
          <p:nvPr/>
        </p:nvSpPr>
        <p:spPr>
          <a:xfrm>
            <a:off x="4663440" y="1143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Never tune on the test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43560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first router draft copied golden questions as examples; it was replaced before any run. Scorer fixes go in an amendments file, never in the frozen set.</a:t>
            </a:r>
            <a:endParaRPr lang="en-US" sz="1100" dirty="0"/>
          </a:p>
        </p:txBody>
      </p:sp>
      <p:sp>
        <p:nvSpPr>
          <p:cNvPr id="11" name="rule 3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Commit before measuring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243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prompt change at a time, full run, compared by failing case ids, not just the percentage.</a:t>
            </a:r>
            <a:endParaRPr lang="en-US" sz="1100" dirty="0"/>
          </a:p>
        </p:txBody>
      </p:sp>
      <p:sp>
        <p:nvSpPr>
          <p:cNvPr id="15" name="rule 4"/>
          <p:cNvSpPr/>
          <p:nvPr/>
        </p:nvSpPr>
        <p:spPr>
          <a:xfrm>
            <a:off x="4663440" y="23317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Repeat and compare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6243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Three runs on each set (identical on this machine); the tuned (92.6%) and unseen (80%) sets are reported side by side.</a:t>
            </a:r>
            <a:endParaRPr lang="en-US" sz="1100" dirty="0"/>
          </a:p>
        </p:txBody>
      </p:sp>
      <p:sp>
        <p:nvSpPr>
          <p:cNvPr id="19" name="rule 5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Fair latency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813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OFF and ON interleaved in one run after a warm-up; quoted as a range (12–13 ms) because runs differ by a millisecond.</a:t>
            </a:r>
            <a:endParaRPr lang="en-US" sz="1100" dirty="0"/>
          </a:p>
        </p:txBody>
      </p:sp>
      <p:sp>
        <p:nvSpPr>
          <p:cNvPr id="23" name="rule 6"/>
          <p:cNvSpPr/>
          <p:nvPr/>
        </p:nvSpPr>
        <p:spPr>
          <a:xfrm>
            <a:off x="4663440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Score as frozen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813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llama3.1:8b refused one question in other words; it stays scored as a failure instead of changing the scorer.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Results: tuned set vs unseen set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097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80 → 96%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unseen answers with a qwen3:8b second-opinion grader that loads only for hard questions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377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 cases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documented weaknesses in the scenario catalogue: grader, multi-hop, SQL, two P&amp;ID relations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657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100%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unanswerable questions refused, every run; general questions never answered with facts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Version-aware retrieval: the trap and the fix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Retrieval only, 32 frozen cases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OFF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Version-trap cases passing (facts present, no stale value from an old chunk)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2/12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12/12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Control cases passing (must stay flat)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20/20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20/20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Median retrieve, interleaved ×3, 96 calls each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12–13 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12–13 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Pair similarity old vs current (nomic-embed-text)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0.963 – 0.990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384048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How: each document version carries version, effective_date and superseded; retrieve() adds WHERE d.superseded = false before ORDER BY, so an old runbook that is 0.99-similar to the question is never a candidate. One line of SQL, behind a switch, default ON since the ablation was recorded.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At answer level the filter raised the 27-question score from 88.9% to 92.6% (multi-hop 0/2 → 1/2); version questions were 8/8 both ways because each current runbook names its former value.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Decisions taken on evidence</a:t>
            </a:r>
            <a:endParaRPr lang="en-US" sz="2800" dirty="0"/>
          </a:p>
        </p:txBody>
      </p:sp>
      <p:sp>
        <p:nvSpPr>
          <p:cNvPr id="3" name="card Second-opinion grader: recommended"/>
          <p:cNvSpPr/>
          <p:nvPr/>
        </p:nvSpPr>
        <p:spPr>
          <a:xfrm>
            <a:off x="457200" y="10515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Second-opinion grader: recommended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qwen3:8b reads the six passages only when the 3B grader keeps none: unseen answers 80% → 96%, about 3 s for a hard question, unloaded after 5 minutes idle.</a:t>
            </a:r>
            <a:endParaRPr lang="en-US" sz="1200" dirty="0"/>
          </a:p>
        </p:txBody>
      </p:sp>
      <p:sp>
        <p:nvSpPr>
          <p:cNvPr id="6" name="card Next.js: descoped"/>
          <p:cNvSpPr/>
          <p:nvPr/>
        </p:nvSpPr>
        <p:spPr>
          <a:xfrm>
            <a:off x="4663440" y="10515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Next.js: descoped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Node 24 is installed, so it was possible; it adds a toolchain and hosting without changing anything measured. A static page proves the streaming contract instead.</a:t>
            </a:r>
            <a:endParaRPr lang="en-US" sz="1200" dirty="0"/>
          </a:p>
        </p:txBody>
      </p:sp>
      <p:sp>
        <p:nvSpPr>
          <p:cNvPr id="9" name="card Bigger models: tested, not kept"/>
          <p:cNvSpPr/>
          <p:nvPr/>
        </p:nvSpPr>
        <p:spPr>
          <a:xfrm>
            <a:off x="45720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Bigger models: tested, not kept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llama3.1:8b for every step scored 92% unseen and stays 5.2 GB resident; qwen2.5vl:7b gave +2 P&amp;ID answers for +2.7 GB. Both were removed.</a:t>
            </a:r>
            <a:endParaRPr lang="en-US" sz="1200" dirty="0"/>
          </a:p>
        </p:txBody>
      </p:sp>
      <p:sp>
        <p:nvSpPr>
          <p:cNvPr id="12" name="card No Docker, no admin rights"/>
          <p:cNvSpPr/>
          <p:nvPr/>
        </p:nvSpPr>
        <p:spPr>
          <a:xfrm>
            <a:off x="466344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 Docker, no admin rights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918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Postgres + pgvector run natively from a pip wheel through pgctl.sh; Ollama is a standalone binary; services.sh check proves a clean start.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Two interfaces on one streaming API</a:t>
            </a:r>
            <a:endParaRPr lang="en-US" sz="2800" dirty="0"/>
          </a:p>
        </p:txBody>
      </p:sp>
      <p:pic>
        <p:nvPicPr>
          <p:cNvPr id="3" name="web front end screenshot" descr="static page showing node pills and an SQL ans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1746504"/>
          </a:xfrm>
          <a:prstGeom prst="rect">
            <a:avLst/>
          </a:prstGeom>
        </p:spPr>
      </p:pic>
      <p:pic>
        <p:nvPicPr>
          <p:cNvPr id="4" name="Gradio screenshot" descr="Gradio chat answering 75% with a trace 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3957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611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web/index.html: one pill per graph node as it finishes, then the answer, route, SQL and citations. No build step; served by FastAPI at /.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611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Gradio: chat with the trace line under each answer; upload documents and tables. Both were exercised in headless Chromium with live questions.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P&amp;ID branch: drawings into the same index</a:t>
            </a:r>
            <a:endParaRPr lang="en-US" sz="2800" dirty="0"/>
          </a:p>
        </p:txBody>
      </p:sp>
      <p:pic>
        <p:nvPicPr>
          <p:cNvPr id="3" name="synthetic P&amp;ID" descr="synthetic piping and instrument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97680" cy="27432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51560"/>
          <a:ext cx="3749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qwen2.5vl:3b (5–12 s per drawing)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Tags read correctly (3 drawings)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38/39, none invented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Right drawing retrieved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12/12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Answers correct, 12 frozen questions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4/12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what an instrument measures, on what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3/3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valve isolating a pump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controller + control valve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0/3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which drawing / unit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0/3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Synthetic drawings from one template with every tag in a ground-truth file (real P&amp;IDs are confidential). The right drawing is always retrieved and a 7b vision model reads all 39 tags, but questions about connections (which valve is on the suction side) fail even with bigger models: the next step is storing connections as table rows.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it, test it</a:t>
            </a:r>
            <a:endParaRPr lang="en-US" sz="2800" dirty="0"/>
          </a:p>
        </p:txBody>
      </p:sp>
      <p:pic>
        <p:nvPicPr>
          <p:cNvPr id="3" name="showcase site screenshot" descr="the ragcap showcase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97680" cy="3108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937760" y="1051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Showcase (GitHub Pages, once published): </a:t>
            </a:r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https://shreenathacc22.github.io/ragcap-m5/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600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Results, the flow, screenshots, the documents, and a replay of 64 recorded runs: pick a question, see its route, node timings, answer, and for version cases the documents retrieved OFF vs ON.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5146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Test it live (Ollama + Python 3.12; a few minutes):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https://github.com/shreenathacc22/ragcap-m5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ragcap-m5 &amp;&amp; ./recreate.sh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Then try the scenario catalogue in docs/RECREATE.pdf, for example: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python scenarios.py → 12 pass, 5 known weaknesses, 0 unexpected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python b1_eval.py → old versions retrieved 51.6% OFF, 0% 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"Which brokers are above 85% disk usage?" → SQL agent, brokers 3 and 5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Documents: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SOP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Runbook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Recreate guide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 guide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Deploying the site to Vercel, step by step</a:t>
            </a:r>
            <a:endParaRPr lang="en-US" sz="2800" dirty="0"/>
          </a:p>
        </p:txBody>
      </p:sp>
      <p:sp>
        <p:nvSpPr>
          <p:cNvPr id="3" name="vercel step 1"/>
          <p:cNvSpPr/>
          <p:nvPr/>
        </p:nvSpPr>
        <p:spPr>
          <a:xfrm>
            <a:off x="457200" y="1124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 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17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vercel.com → Continue with GitHub (the account that owns shreenathacc22/ragcap-m5).</a:t>
            </a:r>
            <a:endParaRPr lang="en-US" sz="1050" dirty="0"/>
          </a:p>
        </p:txBody>
      </p:sp>
      <p:sp>
        <p:nvSpPr>
          <p:cNvPr id="7" name="vercel step 2"/>
          <p:cNvSpPr/>
          <p:nvPr/>
        </p:nvSpPr>
        <p:spPr>
          <a:xfrm>
            <a:off x="4663440" y="1124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Import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417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Add New → Project → Import Git Repository → shreenathacc22/ragcap-m5. Authorise the Vercel GitHub app for this repo if asked.</a:t>
            </a:r>
            <a:endParaRPr lang="en-US" sz="1050" dirty="0"/>
          </a:p>
        </p:txBody>
      </p:sp>
      <p:sp>
        <p:nvSpPr>
          <p:cNvPr id="11" name="vercel step 3"/>
          <p:cNvSpPr/>
          <p:nvPr/>
        </p:nvSpPr>
        <p:spPr>
          <a:xfrm>
            <a:off x="457200" y="2267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Settings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560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Framework Preset: Other. Root Directory: leave as the repo root. Build Command: empty. Output Directory: site (vercel.json already says so).</a:t>
            </a:r>
            <a:endParaRPr lang="en-US" sz="1050" dirty="0"/>
          </a:p>
        </p:txBody>
      </p:sp>
      <p:sp>
        <p:nvSpPr>
          <p:cNvPr id="15" name="vercel step 4"/>
          <p:cNvSpPr/>
          <p:nvPr/>
        </p:nvSpPr>
        <p:spPr>
          <a:xfrm>
            <a:off x="4663440" y="2267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560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Click Deploy; the first URL looks like ragcap-&lt;hash&gt;.vercel.app and opens the same site as GitHub Pages.</a:t>
            </a:r>
            <a:endParaRPr lang="en-US" sz="1050" dirty="0"/>
          </a:p>
        </p:txBody>
      </p:sp>
      <p:sp>
        <p:nvSpPr>
          <p:cNvPr id="19" name="vercel step 5"/>
          <p:cNvSpPr/>
          <p:nvPr/>
        </p:nvSpPr>
        <p:spPr>
          <a:xfrm>
            <a:off x="457200" y="3410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Domain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703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Settings → Domains → add ragcap-m5.vercel.app (or any free name); paste the URL into README.md and the site, run publish_site.sh.</a:t>
            </a:r>
            <a:endParaRPr lang="en-US" sz="1050" dirty="0"/>
          </a:p>
        </p:txBody>
      </p:sp>
      <p:sp>
        <p:nvSpPr>
          <p:cNvPr id="23" name="vercel step 6"/>
          <p:cNvSpPr/>
          <p:nvPr/>
        </p:nvSpPr>
        <p:spPr>
          <a:xfrm>
            <a:off x="4663440" y="3410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Keep it current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703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Every git push to main redeploys; the Deployments tab shows each build. CLI alternative: npm i -g vercel &amp;&amp; vercel login &amp;&amp; vercel --prod.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Why only the site: the pipeline needs Postgres + pgvector and Ollama, which neither Vercel nor Pages run. GitHub Pages is already live from the gh-pages branch (publish_site.sh); Vercel serves the identical site/ folder once imported.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Recreating it anywhere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1417320"/>
          </a:xfrm>
          <a:prstGeom prst="rect">
            <a:avLst/>
          </a:prstGeom>
          <a:solidFill>
            <a:srgbClr val="EEF3F6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https://github.com/shreenathacc22/ragcap-m5 &amp;&amp; cd ragcap-m5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llama3.2:3b; ollama pull nomic-embed-text   # no Docker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./recreate.sh          # DB, ingest, checks, fingerprints, OFF/ON ablation, smoke questions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.venv/bin/uvicorn api:app --port 8000     # http://127.0.0.1:8000/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./services.sh start &amp;&amp; ./services.sh check   # after a reboot: CLEAN START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pid_eval.py --ingest   # P&amp;ID branch (ollama pull qwen2.5vl:3b first)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Fingerprint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 a correct rebuild must match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Database after ingest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16 docs, 16 chunks, 8 superseded, 1 table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Data checks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PASS; pair similarity 0.963–0.990; three negative tests reported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Retrieval ablation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OFF 99/192 (51.6%) → ON 0/192 (0.0%); trap 2/12 → 12/12; control 20/20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Golden sets (sha1 prefixes)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golden 68ec09bd…, held-out 02ddcfd6…, P&amp;ID 10fe1aa6…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this shows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design can be reproduced on a laptop with no API key. What makes it credible is not the architecture but the measurement: a frozen test set, an unseen set, ranges over repeated runs, a filter proven OFF against ON, and negatives written down with their evidence.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On an Apple M5 Pro: lean models (~2.7 GB) answer 92.6% / 80%; a second-opinion grader lifts unseen questions to 96%. Next: P&amp;ID connections as data, multi-hop, then deployment.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https://github.com/shreenathacc22/ragcap-m5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 ·    </a:t>
            </a:r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https://shreenathacc22.github.io/ragcap-m5/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cap">
  <a:themeElements>
    <a:clrScheme name="ragcap">
      <a:dk1>
        <a:srgbClr val="1F2933"/>
      </a:dk1>
      <a:lt1>
        <a:srgbClr val="FFFFFF"/>
      </a:lt1>
      <a:dk2>
        <a:srgbClr val="0F4C5C"/>
      </a:dk2>
      <a:lt2>
        <a:srgbClr val="EEF3F6"/>
      </a:lt2>
      <a:accent1>
        <a:srgbClr val="0F766E"/>
      </a:accent1>
      <a:accent2>
        <a:srgbClr val="B54141"/>
      </a:accent2>
      <a:accent3>
        <a:srgbClr val="1E7F4F"/>
      </a:accent3>
      <a:accent4>
        <a:srgbClr val="D98E04"/>
      </a:accent4>
      <a:accent5>
        <a:srgbClr val="5F6B76"/>
      </a:accent5>
      <a:accent6>
        <a:srgbClr val="2457A8"/>
      </a:accent6>
      <a:hlink>
        <a:srgbClr val="0F766E"/>
      </a:hlink>
      <a:folHlink>
        <a:srgbClr val="5F6B76"/>
      </a:folHlink>
    </a:clrScheme>
    <a:fontScheme name="ragc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ragcap: a multi-agent RAG system, built and measured</dc:title>
  <dc:subject>PptxGenJS Presentation</dc:subject>
  <dc:creator>Shreenath Shetty</dc:creator>
  <cp:lastModifiedBy>Shreenath Shetty</cp:lastModifiedBy>
  <cp:revision>1</cp:revision>
  <dcterms:created xsi:type="dcterms:W3CDTF">2026-10-23T15:55:42Z</dcterms:created>
  <dcterms:modified xsi:type="dcterms:W3CDTF">2026-10-23T15:55:42Z</dcterms:modified>
</cp:coreProperties>
</file>